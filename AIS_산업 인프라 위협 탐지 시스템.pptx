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82" r:id="rId18"/>
    <p:sldId id="274" r:id="rId19"/>
    <p:sldId id="277" r:id="rId20"/>
    <p:sldId id="275" r:id="rId21"/>
    <p:sldId id="276" r:id="rId22"/>
    <p:sldId id="278" r:id="rId23"/>
    <p:sldId id="279" r:id="rId24"/>
    <p:sldId id="281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5569"/>
    <a:srgbClr val="F59E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51" autoAdjust="0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282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2512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8229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 인프라 위협 탐지 시스템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Intrusion detection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411480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정민균</a:t>
            </a:r>
            <a:r>
              <a:rPr lang="en-US" altLang="ko-KR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_220161119</a:t>
            </a: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 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" cy="603504"/>
          </a:xfrm>
          <a:prstGeom prst="roundRect">
            <a:avLst>
              <a:gd name="adj" fmla="val 14545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2618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901952"/>
            <a:ext cx="502920" cy="603504"/>
          </a:xfrm>
          <a:prstGeom prst="roundRect">
            <a:avLst>
              <a:gd name="adj" fmla="val 14545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190195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19751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본론 I  — 기술 분석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1518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2615184"/>
            <a:ext cx="502920" cy="603504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2615184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6883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본론 II — 시스템 구현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32841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57200" y="3328416"/>
            <a:ext cx="502920" cy="603504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200" y="3328416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4015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3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서론 · 개요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개요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0292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AIS란 무엇인가?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17904"/>
            <a:ext cx="46634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 (Anomaly Intrusion detection System)는 딥러닝 기반의 실시간 네트워크 침입 탐지 시스템입니다.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접근 방식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LSTM / GRU Recurrent Autoencoder로 시계열 트래픽의 이상 패턴을 비지도 학습으로 탐지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 / RandomForest 분류기로 위협 유형을 다중 분류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Z-score 기반 동적 임계값으로 현장 환경에 맞게 조정 가능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대상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제조 ICS/OT 네트워크 (PLC, MES, ERP 연계 구간)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항공 관제 네트워크 (ATC, ADS-B, 데이터링크)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0" y="1051560"/>
            <a:ext cx="1417320" cy="14630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669280" y="125272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20,000건×3일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19659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트래픽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0" y="2697480"/>
            <a:ext cx="1417320" cy="14630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669280" y="289864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5가지 위협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36118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유형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132320" y="1051560"/>
            <a:ext cx="1417320" cy="14630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132320" y="125272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LSTM+GRU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0" y="19659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 아키텍처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132320" y="2697480"/>
            <a:ext cx="1417320" cy="14630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132320" y="289864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ACL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0" y="36118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차단 정책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서론 · 배경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배경 및 필요성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941935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66928" y="2197967"/>
            <a:ext cx="274320" cy="2743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219796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0120" y="2033375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OT/IT 융합 가속화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2325983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스마트팩토리·Industry 4.0으로 산업 제어망이 인터넷과 연결되면서 PLC, SCADA 등 OT 장비가 사이버 위협에 직접 노출됨.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838047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66928" y="3094079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66928" y="309407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60120" y="2929487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기존 시그니처 탐지의 한계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3222095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전통적인 규칙 기반(IDS/IPS)은 알려진 패턴만 탐지하여 제로데이 공격·변형 공격에 무력화됨.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734159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66928" y="3990191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66928" y="399019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60120" y="3825599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150" b="1" dirty="0" err="1">
                <a:solidFill>
                  <a:srgbClr val="0F172A"/>
                </a:solidFill>
              </a:rPr>
              <a:t>항공</a:t>
            </a:r>
            <a:r>
              <a:rPr lang="en-US" altLang="ko-KR" sz="1150" b="1" dirty="0">
                <a:solidFill>
                  <a:srgbClr val="0F172A"/>
                </a:solidFill>
              </a:rPr>
              <a:t> </a:t>
            </a:r>
            <a:r>
              <a:rPr lang="en-US" altLang="ko-KR" sz="1150" b="1" dirty="0" err="1">
                <a:solidFill>
                  <a:srgbClr val="0F172A"/>
                </a:solidFill>
              </a:rPr>
              <a:t>관제망의</a:t>
            </a:r>
            <a:r>
              <a:rPr lang="en-US" altLang="ko-KR" sz="1150" b="1" dirty="0">
                <a:solidFill>
                  <a:srgbClr val="0F172A"/>
                </a:solidFill>
              </a:rPr>
              <a:t> </a:t>
            </a:r>
            <a:r>
              <a:rPr lang="en-US" altLang="ko-KR" sz="1150" b="1" dirty="0" err="1">
                <a:solidFill>
                  <a:srgbClr val="0F172A"/>
                </a:solidFill>
              </a:rPr>
              <a:t>특수성</a:t>
            </a:r>
            <a:endParaRPr lang="en-US" altLang="ko-KR" sz="1150" dirty="0"/>
          </a:p>
        </p:txBody>
      </p:sp>
      <p:sp>
        <p:nvSpPr>
          <p:cNvPr id="19" name="Text 17"/>
          <p:cNvSpPr/>
          <p:nvPr/>
        </p:nvSpPr>
        <p:spPr>
          <a:xfrm>
            <a:off x="960120" y="4118207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950" dirty="0">
                <a:solidFill>
                  <a:srgbClr val="475569"/>
                </a:solidFill>
              </a:rPr>
              <a:t>ATC </a:t>
            </a:r>
            <a:r>
              <a:rPr lang="en-US" altLang="ko-KR" sz="950" dirty="0" err="1">
                <a:solidFill>
                  <a:srgbClr val="475569"/>
                </a:solidFill>
              </a:rPr>
              <a:t>시스템은</a:t>
            </a:r>
            <a:r>
              <a:rPr lang="en-US" altLang="ko-KR" sz="950" dirty="0">
                <a:solidFill>
                  <a:srgbClr val="475569"/>
                </a:solidFill>
              </a:rPr>
              <a:t> 99.999% </a:t>
            </a:r>
            <a:r>
              <a:rPr lang="en-US" altLang="ko-KR" sz="950" dirty="0" err="1">
                <a:solidFill>
                  <a:srgbClr val="475569"/>
                </a:solidFill>
              </a:rPr>
              <a:t>가용성</a:t>
            </a:r>
            <a:r>
              <a:rPr lang="en-US" altLang="ko-KR" sz="950" dirty="0">
                <a:solidFill>
                  <a:srgbClr val="475569"/>
                </a:solidFill>
              </a:rPr>
              <a:t> </a:t>
            </a:r>
            <a:r>
              <a:rPr lang="en-US" altLang="ko-KR" sz="950" dirty="0" err="1">
                <a:solidFill>
                  <a:srgbClr val="475569"/>
                </a:solidFill>
              </a:rPr>
              <a:t>요구·실시간</a:t>
            </a:r>
            <a:r>
              <a:rPr lang="en-US" altLang="ko-KR" sz="950" dirty="0">
                <a:solidFill>
                  <a:srgbClr val="475569"/>
                </a:solidFill>
              </a:rPr>
              <a:t> </a:t>
            </a:r>
            <a:r>
              <a:rPr lang="en-US" altLang="ko-KR" sz="950" dirty="0" err="1">
                <a:solidFill>
                  <a:srgbClr val="475569"/>
                </a:solidFill>
              </a:rPr>
              <a:t>제약으로</a:t>
            </a:r>
            <a:r>
              <a:rPr lang="en-US" altLang="ko-KR" sz="950" dirty="0">
                <a:solidFill>
                  <a:srgbClr val="475569"/>
                </a:solidFill>
              </a:rPr>
              <a:t> </a:t>
            </a:r>
            <a:r>
              <a:rPr lang="en-US" altLang="ko-KR" sz="950" dirty="0" err="1">
                <a:solidFill>
                  <a:srgbClr val="475569"/>
                </a:solidFill>
              </a:rPr>
              <a:t>기존</a:t>
            </a:r>
            <a:r>
              <a:rPr lang="en-US" altLang="ko-KR" sz="950" dirty="0">
                <a:solidFill>
                  <a:srgbClr val="475569"/>
                </a:solidFill>
              </a:rPr>
              <a:t> </a:t>
            </a:r>
            <a:r>
              <a:rPr lang="en-US" altLang="ko-KR" sz="950" dirty="0" err="1">
                <a:solidFill>
                  <a:srgbClr val="475569"/>
                </a:solidFill>
              </a:rPr>
              <a:t>보안</a:t>
            </a:r>
            <a:r>
              <a:rPr lang="en-US" altLang="ko-KR" sz="950" dirty="0">
                <a:solidFill>
                  <a:srgbClr val="475569"/>
                </a:solidFill>
              </a:rPr>
              <a:t> </a:t>
            </a:r>
            <a:r>
              <a:rPr lang="en-US" altLang="ko-KR" sz="950" dirty="0" err="1">
                <a:solidFill>
                  <a:srgbClr val="475569"/>
                </a:solidFill>
              </a:rPr>
              <a:t>솔루션</a:t>
            </a:r>
            <a:r>
              <a:rPr lang="en-US" altLang="ko-KR" sz="950" dirty="0">
                <a:solidFill>
                  <a:srgbClr val="475569"/>
                </a:solidFill>
              </a:rPr>
              <a:t> </a:t>
            </a:r>
            <a:r>
              <a:rPr lang="en-US" altLang="ko-KR" sz="950" dirty="0" err="1">
                <a:solidFill>
                  <a:srgbClr val="475569"/>
                </a:solidFill>
              </a:rPr>
              <a:t>적용이</a:t>
            </a:r>
            <a:r>
              <a:rPr lang="en-US" altLang="ko-KR" sz="950" dirty="0">
                <a:solidFill>
                  <a:srgbClr val="475569"/>
                </a:solidFill>
              </a:rPr>
              <a:t> </a:t>
            </a:r>
            <a:r>
              <a:rPr lang="en-US" altLang="ko-KR" sz="950" dirty="0" err="1">
                <a:solidFill>
                  <a:srgbClr val="475569"/>
                </a:solidFill>
              </a:rPr>
              <a:t>어렵고</a:t>
            </a:r>
            <a:r>
              <a:rPr lang="en-US" altLang="ko-KR" sz="950" dirty="0">
                <a:solidFill>
                  <a:srgbClr val="475569"/>
                </a:solidFill>
              </a:rPr>
              <a:t> </a:t>
            </a:r>
            <a:r>
              <a:rPr lang="en-US" altLang="ko-KR" sz="950" dirty="0" err="1">
                <a:solidFill>
                  <a:srgbClr val="475569"/>
                </a:solidFill>
              </a:rPr>
              <a:t>전용</a:t>
            </a:r>
            <a:r>
              <a:rPr lang="en-US" altLang="ko-KR" sz="950" dirty="0">
                <a:solidFill>
                  <a:srgbClr val="475569"/>
                </a:solidFill>
              </a:rPr>
              <a:t> </a:t>
            </a:r>
            <a:r>
              <a:rPr lang="en-US" altLang="ko-KR" sz="950" dirty="0" err="1">
                <a:solidFill>
                  <a:srgbClr val="475569"/>
                </a:solidFill>
              </a:rPr>
              <a:t>이상</a:t>
            </a:r>
            <a:r>
              <a:rPr lang="en-US" altLang="ko-KR" sz="950" dirty="0">
                <a:solidFill>
                  <a:srgbClr val="475569"/>
                </a:solidFill>
              </a:rPr>
              <a:t> </a:t>
            </a:r>
            <a:r>
              <a:rPr lang="en-US" altLang="ko-KR" sz="950" dirty="0" err="1">
                <a:solidFill>
                  <a:srgbClr val="475569"/>
                </a:solidFill>
              </a:rPr>
              <a:t>탐지</a:t>
            </a:r>
            <a:r>
              <a:rPr lang="en-US" altLang="ko-KR" sz="950" dirty="0">
                <a:solidFill>
                  <a:srgbClr val="475569"/>
                </a:solidFill>
              </a:rPr>
              <a:t> </a:t>
            </a:r>
            <a:r>
              <a:rPr lang="en-US" altLang="ko-KR" sz="950" dirty="0" err="1">
                <a:solidFill>
                  <a:srgbClr val="475569"/>
                </a:solidFill>
              </a:rPr>
              <a:t>모델이</a:t>
            </a:r>
            <a:r>
              <a:rPr lang="en-US" altLang="ko-KR" sz="950" dirty="0">
                <a:solidFill>
                  <a:srgbClr val="475569"/>
                </a:solidFill>
              </a:rPr>
              <a:t> </a:t>
            </a:r>
            <a:r>
              <a:rPr lang="en-US" altLang="ko-KR" sz="950" dirty="0" err="1">
                <a:solidFill>
                  <a:srgbClr val="475569"/>
                </a:solidFill>
              </a:rPr>
              <a:t>필요함</a:t>
            </a:r>
            <a:r>
              <a:rPr lang="en-US" altLang="ko-KR" sz="950" dirty="0">
                <a:solidFill>
                  <a:srgbClr val="475569"/>
                </a:solidFill>
              </a:rPr>
              <a:t>.</a:t>
            </a:r>
            <a:endParaRPr lang="en-US" altLang="ko-KR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본론 I · 위협 유형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대상 위협 유형 6가지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66928" y="1207008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12070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Benign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정상 트래픽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정상적인 네트워크 흐름. 모든 이상 탐지의 기준 클래스로 사용.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401568" y="1207008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401568" y="12070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Brute Force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91840" y="15544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무차별 대입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874520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반복 인증 시도로 계정을 탈취하는 공격. FTP/SSH 포트 집중.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236208" y="1207008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236208" y="12070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DDoS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26480" y="15544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분산 서비스 거부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874520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다수 분산된 공격 출처로 대역폭·서버를 마비시키는 공격.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66928" y="3081528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66928" y="3081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DoS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34290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서비스 거부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749040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단일 출처에서 대용량 트래픽을 발생시켜 서비스를 중단.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29718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401568" y="3081528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401568" y="3081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Web Attack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91840" y="34290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웹 애플리케이션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29000" y="3749040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SQL Injection, XSS 등 웹 취약점을 이용한 침투 공격.</a:t>
            </a:r>
          </a:p>
        </p:txBody>
      </p:sp>
      <p:sp>
        <p:nvSpPr>
          <p:cNvPr id="30" name="Shape 28"/>
          <p:cNvSpPr/>
          <p:nvPr/>
        </p:nvSpPr>
        <p:spPr>
          <a:xfrm>
            <a:off x="6126480" y="29718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236208" y="3081528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236208" y="3081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Other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26480" y="34290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0F172A"/>
                </a:solidFill>
              </a:rPr>
              <a:t>기타</a:t>
            </a:r>
            <a:r>
              <a:rPr lang="en-US" altLang="ko-KR" sz="1200" b="1" dirty="0">
                <a:solidFill>
                  <a:srgbClr val="0F172A"/>
                </a:solidFill>
              </a:rPr>
              <a:t>/</a:t>
            </a:r>
            <a:r>
              <a:rPr lang="ko-KR" altLang="en-US" sz="1200" b="1" dirty="0">
                <a:solidFill>
                  <a:srgbClr val="0F172A"/>
                </a:solidFill>
              </a:rPr>
              <a:t>미분류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63640" y="3749040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900" dirty="0">
                <a:solidFill>
                  <a:srgbClr val="475569"/>
                </a:solidFill>
              </a:rPr>
              <a:t>위 </a:t>
            </a:r>
            <a:r>
              <a:rPr lang="en-US" altLang="ko-KR" sz="900" dirty="0">
                <a:solidFill>
                  <a:srgbClr val="475569"/>
                </a:solidFill>
              </a:rPr>
              <a:t>5</a:t>
            </a:r>
            <a:r>
              <a:rPr lang="ko-KR" altLang="en-US" sz="900" dirty="0">
                <a:solidFill>
                  <a:srgbClr val="475569"/>
                </a:solidFill>
              </a:rPr>
              <a:t>개 유행 키워드에 매칭 되지 않은 잔여 트래픽</a:t>
            </a:r>
            <a:r>
              <a:rPr lang="en-US" altLang="ko-KR" sz="900" dirty="0">
                <a:solidFill>
                  <a:srgbClr val="475569"/>
                </a:solidFill>
              </a:rPr>
              <a:t>, </a:t>
            </a:r>
            <a:r>
              <a:rPr lang="ko-KR" altLang="en-US" sz="900" dirty="0">
                <a:solidFill>
                  <a:srgbClr val="475569"/>
                </a:solidFill>
              </a:rPr>
              <a:t>위협 여부는 추가 분석 필요</a:t>
            </a:r>
            <a:r>
              <a:rPr lang="en-US" altLang="ko-KR" sz="900" dirty="0">
                <a:solidFill>
                  <a:srgbClr val="475569"/>
                </a:solidFill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본론 I · 위협 상세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· Brute Force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170432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170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Benign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정상 트래픽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탐지 시스템의 음성(Negative) 클래스로 기준이 됨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240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일반적인 HTTP/HTTPS, DNS, SMTP 트래픽 포함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6517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Autoencoder가 정상 패턴을 학습하는 기반 데이터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30632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재현율(Recall) 높을수록 정상을 정상으로 인식하는 능력 ↑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4747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과탐(False Positive)을 줄이려면 Benign 데이터 품질이 핵심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8862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데이터셋 내 구성: 전체 트래픽의 약 60~70%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05156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892040" y="1170432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892040" y="11704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Brute Force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92040" y="14813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무차별 대입 공격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828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FTP-BruteForce, SSH-Patator 등 포함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2240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짧은 시간 내 동일 대상 IP에 반복 연결 시도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26517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Flow IAT Mean 값이 급격히 낮아지는 것이 특징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30632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Fwd Packet Length Mean이 일정하게 반복되는 패턴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34747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제조 MES·ERP 관리자 계정 탈취 시 생산 명령 변조 가능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38862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권고 조치: MFA 강제·로그인 시도 횟수 제한·IP 차단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본론 I · 위협 상세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· DoS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170432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1704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DDoS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분산 서비스 거부 공격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다수 좀비 PC/봇넷에서 동시 다발 트래픽 발생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240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Flow Packets/s 극단적 급등이 주요 시그널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6517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LOIC, HOIC, Slowloris 등 다양한 변형 존재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30632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ICS 백본 마비 시 제어실 전면 접근 차단 가능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4747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항공: ATC 서버 다운 → 데이터링크 연동 마비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8862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대응: CDN 스크러빙·ISP 레벨 업스트림 차단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05156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892040" y="1170432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892040" y="11704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DoS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92040" y="14813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서비스 거부 공격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828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단일 출처 고강도 트래픽 (DDoS보다 차단 용이)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2240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GoldenEye, Hulk, SlowHTTPTest 포함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26517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Flow Duration 비정상적으로 길거나 짧음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30632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Bwd Packet Length Mean 이상 급등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34747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PLC 제어 신호 대역폭 포화 → 공정 오작동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38862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대응: Rate Limiting + 업스트림 필터 즉시 적용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본론 I · 위협 상세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Attack · Botnet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1170432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1704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Web Attack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웹 애플리케이션 공격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SQL Injection: DB 무단 조회·변조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240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XSS: 세션 탈취·악성 스크립트 삽입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6517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Brute Force (Web): 관리자 패널 침투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30632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ERP 웹 모듈 침해 → 출하 일정 위변조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4747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공항 스케줄링 시스템 교란 → 게이트 오배정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8862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대응: WAF 강화·취약 엔드포인트 패치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05156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Shape 14"/>
          <p:cNvSpPr/>
          <p:nvPr/>
        </p:nvSpPr>
        <p:spPr>
          <a:xfrm>
            <a:off x="4892040" y="1170432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892040" y="11704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 Other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92040" y="14813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ko-KR" sz="1400" b="1" dirty="0"/>
              <a:t>기타 미분류 트래픽</a:t>
            </a:r>
            <a:endParaRPr lang="en-US" sz="1300" b="1" dirty="0"/>
          </a:p>
        </p:txBody>
      </p:sp>
      <p:sp>
        <p:nvSpPr>
          <p:cNvPr id="19" name="Text 17"/>
          <p:cNvSpPr/>
          <p:nvPr/>
        </p:nvSpPr>
        <p:spPr>
          <a:xfrm>
            <a:off x="4892040" y="2240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ko-KR" altLang="ko-KR" sz="1000" dirty="0" err="1">
                <a:solidFill>
                  <a:srgbClr val="475569"/>
                </a:solidFill>
              </a:rPr>
              <a:t>Brute</a:t>
            </a:r>
            <a:r>
              <a:rPr lang="ko-KR" altLang="ko-KR" sz="1000" dirty="0">
                <a:solidFill>
                  <a:srgbClr val="475569"/>
                </a:solidFill>
              </a:rPr>
              <a:t> </a:t>
            </a:r>
            <a:r>
              <a:rPr lang="ko-KR" altLang="ko-KR" sz="1000" dirty="0" err="1">
                <a:solidFill>
                  <a:srgbClr val="475569"/>
                </a:solidFill>
              </a:rPr>
              <a:t>Force·DDoS·DoS·Web</a:t>
            </a:r>
            <a:r>
              <a:rPr lang="ko-KR" altLang="ko-KR" sz="1000" dirty="0">
                <a:solidFill>
                  <a:srgbClr val="475569"/>
                </a:solidFill>
              </a:rPr>
              <a:t> </a:t>
            </a:r>
            <a:r>
              <a:rPr lang="ko-KR" altLang="ko-KR" sz="1000" dirty="0" err="1">
                <a:solidFill>
                  <a:srgbClr val="475569"/>
                </a:solidFill>
              </a:rPr>
              <a:t>Attack</a:t>
            </a:r>
            <a:r>
              <a:rPr lang="ko-KR" altLang="ko-KR" sz="1000" dirty="0">
                <a:solidFill>
                  <a:srgbClr val="475569"/>
                </a:solidFill>
              </a:rPr>
              <a:t> 키워드에 매칭되지 않는 모든 레이블이 이 범주로 합산됨</a:t>
            </a:r>
            <a:endParaRPr lang="en-US" sz="950" dirty="0">
              <a:solidFill>
                <a:srgbClr val="475569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92040" y="3061693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ko-KR" altLang="ko-KR" sz="1000" dirty="0">
                <a:solidFill>
                  <a:srgbClr val="475569"/>
                </a:solidFill>
              </a:rPr>
              <a:t>실제 위협(</a:t>
            </a:r>
            <a:r>
              <a:rPr lang="ko-KR" altLang="ko-KR" sz="1000" dirty="0" err="1">
                <a:solidFill>
                  <a:srgbClr val="475569"/>
                </a:solidFill>
              </a:rPr>
              <a:t>봇넷</a:t>
            </a:r>
            <a:r>
              <a:rPr lang="ko-KR" altLang="ko-KR" sz="1000" dirty="0">
                <a:solidFill>
                  <a:srgbClr val="475569"/>
                </a:solidFill>
              </a:rPr>
              <a:t>, 침투 등)이 혼재할 수 있어 단정적 판단 불가</a:t>
            </a:r>
            <a:br>
              <a:rPr lang="ko-KR" altLang="ko-KR" sz="1000" dirty="0">
                <a:solidFill>
                  <a:srgbClr val="475569"/>
                </a:solidFill>
              </a:rPr>
            </a:br>
            <a:endParaRPr lang="en-US" sz="950" dirty="0">
              <a:solidFill>
                <a:srgbClr val="475569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92040" y="3883197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ko-KR" altLang="ko-KR" sz="1000" dirty="0">
                <a:solidFill>
                  <a:srgbClr val="475569"/>
                </a:solidFill>
              </a:rPr>
              <a:t>대응: 격리 후 수동 검토 + 상세 로그 분석 + 위협 </a:t>
            </a:r>
            <a:r>
              <a:rPr lang="ko-KR" altLang="ko-KR" sz="1000" dirty="0" err="1">
                <a:solidFill>
                  <a:srgbClr val="475569"/>
                </a:solidFill>
              </a:rPr>
              <a:t>인텔리전스</a:t>
            </a:r>
            <a:r>
              <a:rPr lang="ko-KR" altLang="ko-KR" sz="1000" dirty="0">
                <a:solidFill>
                  <a:srgbClr val="475569"/>
                </a:solidFill>
              </a:rPr>
              <a:t> 추가 매칭</a:t>
            </a:r>
            <a:endParaRPr lang="en-US" sz="950" dirty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본론 II · 데이터셋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 구축 전략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0292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CIC-IDS 2018 데이터셋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출처: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03120" y="15544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Canadian Institute for Cybersecurity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0299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파일: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03120" y="202996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02-14 · 02-15 · 02-16 (3일치 CSV)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50545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원본 규모: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03120" y="250545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파일당 최대 80만+ 행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298094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실험 로드: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03120" y="298094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파일당 20,000건 (총 ~60,000건)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345643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전처리: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03120" y="34564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Inf/-Inf → NaN 제거, RobustScaler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특징 선택: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03120" y="39319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5개 핵심 피처 (하단 참고)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0" y="1051560"/>
            <a:ext cx="3200400" cy="37490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52160" y="118872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5개 핵심 피처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160020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035040" y="155448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</a:rPr>
              <a:t>Flow IAT Mean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35040" y="181051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패킷 간 도착 간격 평균 — 봇넷·DDoS 탐지 핵심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60720" y="225856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035040" y="221284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</a:rPr>
              <a:t>Fwd Pkt Len Mean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35040" y="246888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전방향 패킷 크기 평균 — 정상/공격 페이로드 구분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760720" y="2916936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035040" y="287121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</a:rPr>
              <a:t>Flow Duration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35040" y="312724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흐름 지속 시간 — DoS 장기 연결·Brute 단기 반복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760720" y="357530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035040" y="352958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</a:rPr>
              <a:t>Flow Packets/s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35040" y="378561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초당 패킷 수 — DDoS 트래픽 급등 감지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760720" y="423367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035040" y="418795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</a:rPr>
              <a:t>Bwd Pkt Len Mean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35040" y="444398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역방향 패킷 크기 — 서버 응답 이상 탐지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본론 II · 알고리즘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(Long Short-Term Memory)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0292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457200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Hochreiter &amp; Schmidhuber (1997) 제안, 장기 의존성 학습을 위해 Vanilla RNN의 기울기 소실 문제를 해결한 순환 신경망.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3개의 게이트 (Forget / Input / Output Gate) 와 Cell State를 통해 중요 정보를 선택적으로 기억하거나 삭제함.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본 시스템에서의 역할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• Encoder: 5 Timestep 시퀀스 → 16차원 잠재 표현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• Decoder: 잠재 표현 → 원래 시퀀스 복원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• 복원 오차(MSE)가 임계값 초과 시 이상으로 판정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0" y="1051560"/>
            <a:ext cx="3200400" cy="3749040"/>
          </a:xfrm>
          <a:prstGeom prst="roundRect">
            <a:avLst>
              <a:gd name="adj" fmla="val 2286"/>
            </a:avLst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0" y="1051560"/>
            <a:ext cx="3200400" cy="374904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Cell State Bar"/>
          <p:cNvSpPr/>
          <p:nvPr/>
        </p:nvSpPr>
        <p:spPr>
          <a:xfrm>
            <a:off x="5866440" y="1248720"/>
            <a:ext cx="2806080" cy="320040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Cell State (C</a:t>
            </a:r>
            <a:r>
              <a:rPr lang="en-US" sz="700" b="1" baseline="-25000" dirty="0">
                <a:solidFill>
                  <a:srgbClr val="FFFFFF"/>
                </a:solidFill>
              </a:rPr>
              <a:t>t</a:t>
            </a:r>
            <a:r>
              <a:rPr lang="en-US" sz="900" b="1" dirty="0">
                <a:solidFill>
                  <a:srgbClr val="FFFFFF"/>
                </a:solidFill>
              </a:rPr>
              <a:t>) — 장기 기억 흐름</a:t>
            </a:r>
            <a:endParaRPr lang="en-US" sz="900" dirty="0"/>
          </a:p>
        </p:txBody>
      </p:sp>
      <p:sp>
        <p:nvSpPr>
          <p:cNvPr id="21" name="Forget Gate Box"/>
          <p:cNvSpPr/>
          <p:nvPr/>
        </p:nvSpPr>
        <p:spPr>
          <a:xfrm>
            <a:off x="5926440" y="1718760"/>
            <a:ext cx="2686080" cy="53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AE6FD"/>
            </a:solidFill>
          </a:ln>
        </p:spPr>
        <p:txBody>
          <a:bodyPr wrap="square" lIns="91440" tIns="36576" rIns="91440" bIns="36576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369A1"/>
                </a:solidFill>
              </a:rPr>
              <a:t>Forget Gate (f</a:t>
            </a:r>
            <a:r>
              <a:rPr lang="en-US" sz="650" b="1" baseline="-25000" dirty="0">
                <a:solidFill>
                  <a:srgbClr val="0369A1"/>
                </a:solidFill>
              </a:rPr>
              <a:t>t</a:t>
            </a:r>
            <a:r>
              <a:rPr lang="en-US" sz="850" b="1" dirty="0">
                <a:solidFill>
                  <a:srgbClr val="0369A1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σ(W</a:t>
            </a:r>
            <a:r>
              <a:rPr lang="en-US" sz="600" baseline="-25000" dirty="0">
                <a:solidFill>
                  <a:srgbClr val="475569"/>
                </a:solidFill>
              </a:rPr>
              <a:t>f</a:t>
            </a:r>
            <a:r>
              <a:rPr lang="en-US" sz="750" dirty="0">
                <a:solidFill>
                  <a:srgbClr val="475569"/>
                </a:solidFill>
              </a:rPr>
              <a:t>·[h</a:t>
            </a:r>
            <a:r>
              <a:rPr lang="en-US" sz="600" baseline="-25000" dirty="0">
                <a:solidFill>
                  <a:srgbClr val="475569"/>
                </a:solidFill>
              </a:rPr>
              <a:t>t-1</a:t>
            </a:r>
            <a:r>
              <a:rPr lang="en-US" sz="750" dirty="0">
                <a:solidFill>
                  <a:srgbClr val="475569"/>
                </a:solidFill>
              </a:rPr>
              <a:t>,x</a:t>
            </a:r>
            <a:r>
              <a:rPr lang="en-US" sz="600" baseline="-25000" dirty="0">
                <a:solidFill>
                  <a:srgbClr val="475569"/>
                </a:solidFill>
              </a:rPr>
              <a:t>t</a:t>
            </a:r>
            <a:r>
              <a:rPr lang="en-US" sz="750" dirty="0">
                <a:solidFill>
                  <a:srgbClr val="475569"/>
                </a:solidFill>
              </a:rPr>
              <a:t>]) — 불필요한 정보 삭제</a:t>
            </a:r>
            <a:endParaRPr lang="en-US" sz="750" dirty="0"/>
          </a:p>
        </p:txBody>
      </p:sp>
      <p:sp>
        <p:nvSpPr>
          <p:cNvPr id="22" name="Input Gate Box"/>
          <p:cNvSpPr/>
          <p:nvPr/>
        </p:nvSpPr>
        <p:spPr>
          <a:xfrm>
            <a:off x="5926440" y="2328760"/>
            <a:ext cx="2686080" cy="53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AE6FD"/>
            </a:solidFill>
          </a:ln>
        </p:spPr>
        <p:txBody>
          <a:bodyPr wrap="square" lIns="91440" tIns="36576" rIns="91440" bIns="36576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369A1"/>
                </a:solidFill>
              </a:rPr>
              <a:t>Input Gate (i</a:t>
            </a:r>
            <a:r>
              <a:rPr lang="en-US" sz="650" b="1" baseline="-25000" dirty="0">
                <a:solidFill>
                  <a:srgbClr val="0369A1"/>
                </a:solidFill>
              </a:rPr>
              <a:t>t</a:t>
            </a:r>
            <a:r>
              <a:rPr lang="en-US" sz="850" b="1" dirty="0">
                <a:solidFill>
                  <a:srgbClr val="0369A1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σ(·) × tanh(·) — 새 정보 선택 반영</a:t>
            </a:r>
            <a:endParaRPr lang="en-US" sz="750" dirty="0"/>
          </a:p>
        </p:txBody>
      </p:sp>
      <p:sp>
        <p:nvSpPr>
          <p:cNvPr id="23" name="Output Gate Box"/>
          <p:cNvSpPr/>
          <p:nvPr/>
        </p:nvSpPr>
        <p:spPr>
          <a:xfrm>
            <a:off x="5926440" y="2938760"/>
            <a:ext cx="2686080" cy="53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AE6FD"/>
            </a:solidFill>
          </a:ln>
        </p:spPr>
        <p:txBody>
          <a:bodyPr wrap="square" lIns="91440" tIns="36576" rIns="91440" bIns="36576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369A1"/>
                </a:solidFill>
              </a:rPr>
              <a:t>Output Gate (o</a:t>
            </a:r>
            <a:r>
              <a:rPr lang="en-US" sz="650" b="1" baseline="-25000" dirty="0">
                <a:solidFill>
                  <a:srgbClr val="0369A1"/>
                </a:solidFill>
              </a:rPr>
              <a:t>t</a:t>
            </a:r>
            <a:r>
              <a:rPr lang="en-US" sz="850" b="1" dirty="0">
                <a:solidFill>
                  <a:srgbClr val="0369A1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σ(·) × tanh(C</a:t>
            </a:r>
            <a:r>
              <a:rPr lang="en-US" sz="600" baseline="-25000" dirty="0">
                <a:solidFill>
                  <a:srgbClr val="475569"/>
                </a:solidFill>
              </a:rPr>
              <a:t>t</a:t>
            </a:r>
            <a:r>
              <a:rPr lang="en-US" sz="750" dirty="0">
                <a:solidFill>
                  <a:srgbClr val="475569"/>
                </a:solidFill>
              </a:rPr>
              <a:t>) — 은닉 상태 h</a:t>
            </a:r>
            <a:r>
              <a:rPr lang="en-US" sz="600" baseline="-25000" dirty="0">
                <a:solidFill>
                  <a:srgbClr val="475569"/>
                </a:solidFill>
              </a:rPr>
              <a:t>t</a:t>
            </a:r>
            <a:r>
              <a:rPr lang="en-US" sz="750" dirty="0">
                <a:solidFill>
                  <a:srgbClr val="475569"/>
                </a:solidFill>
              </a:rPr>
              <a:t> 출력</a:t>
            </a:r>
            <a:endParaRPr lang="en-US" sz="750" dirty="0"/>
          </a:p>
        </p:txBody>
      </p:sp>
      <p:cxnSp>
        <p:nvCxnSpPr>
          <p:cNvPr id="24" name="Arrow1"/>
          <p:cNvCxnSpPr/>
          <p:nvPr/>
        </p:nvCxnSpPr>
        <p:spPr>
          <a:xfrm>
            <a:off x="7259640" y="1568760"/>
            <a:ext cx="0" cy="150000"/>
          </a:xfrm>
          <a:prstGeom prst="straightConnector1">
            <a:avLst/>
          </a:prstGeom>
          <a:ln w="19050">
            <a:solidFill>
              <a:srgbClr val="94A3B8"/>
            </a:solidFill>
            <a:tailEnd type="triangle" w="med" len="med"/>
          </a:ln>
        </p:spPr>
      </p:cxnSp>
      <p:cxnSp>
        <p:nvCxnSpPr>
          <p:cNvPr id="25" name="Arrow2"/>
          <p:cNvCxnSpPr/>
          <p:nvPr/>
        </p:nvCxnSpPr>
        <p:spPr>
          <a:xfrm>
            <a:off x="7259640" y="2248760"/>
            <a:ext cx="0" cy="80000"/>
          </a:xfrm>
          <a:prstGeom prst="straightConnector1">
            <a:avLst/>
          </a:prstGeom>
          <a:ln w="19050">
            <a:solidFill>
              <a:srgbClr val="94A3B8"/>
            </a:solidFill>
            <a:tailEnd type="triangle" w="med" len="med"/>
          </a:ln>
        </p:spPr>
      </p:cxnSp>
      <p:cxnSp>
        <p:nvCxnSpPr>
          <p:cNvPr id="26" name="Arrow3"/>
          <p:cNvCxnSpPr/>
          <p:nvPr/>
        </p:nvCxnSpPr>
        <p:spPr>
          <a:xfrm>
            <a:off x="7259640" y="2858760"/>
            <a:ext cx="0" cy="80000"/>
          </a:xfrm>
          <a:prstGeom prst="straightConnector1">
            <a:avLst/>
          </a:prstGeom>
          <a:ln w="19050">
            <a:solidFill>
              <a:srgbClr val="94A3B8"/>
            </a:solidFill>
            <a:tailEnd type="triangl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본론 II · 알고리즘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(Gated Recurrent Unit)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0292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457200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Cho et al. (2014) 제안. LSTM의 간소화 버전으로 Reset Gate + Update Gate만 사용, 파라미터 수 약 25% 감소.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Cell State와 Hidden State를 통합하여 구조가 단순하며 학습 속도가 빠름. 적은 데이터에서도 안정적 수렴.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LSTM vs GRU 비교 (본 시스템 맥락)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• 파라미터: GRU &lt; LSTM (경량화 유리)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• 장기 의존성: LSTM이 이론적으로 우세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• 실제 성능: 데이터 규모에 따라 역전 가능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• 권장: 짧은 시퀀스(≤10)면 GRU가 효율적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0" y="1051560"/>
            <a:ext cx="3200400" cy="3749040"/>
          </a:xfrm>
          <a:prstGeom prst="roundRect">
            <a:avLst>
              <a:gd name="adj" fmla="val 2286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Hidden State Bar"/>
          <p:cNvSpPr/>
          <p:nvPr/>
        </p:nvSpPr>
        <p:spPr>
          <a:xfrm>
            <a:off x="5866440" y="1248720"/>
            <a:ext cx="2806080" cy="32004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Hidden State (h</a:t>
            </a:r>
            <a:r>
              <a:rPr lang="en-US" sz="700" b="1" baseline="-25000" dirty="0">
                <a:solidFill>
                  <a:srgbClr val="FFFFFF"/>
                </a:solidFill>
              </a:rPr>
              <a:t>t</a:t>
            </a:r>
            <a:r>
              <a:rPr lang="en-US" sz="900" b="1" dirty="0">
                <a:solidFill>
                  <a:srgbClr val="FFFFFF"/>
                </a:solidFill>
              </a:rPr>
              <a:t>) — 단일 상태 통합</a:t>
            </a:r>
            <a:endParaRPr lang="en-US" sz="900" dirty="0"/>
          </a:p>
        </p:txBody>
      </p:sp>
      <p:sp>
        <p:nvSpPr>
          <p:cNvPr id="21" name="Reset Gate Box"/>
          <p:cNvSpPr/>
          <p:nvPr/>
        </p:nvSpPr>
        <p:spPr>
          <a:xfrm>
            <a:off x="5926440" y="1768760"/>
            <a:ext cx="2686080" cy="6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7857"/>
                </a:solidFill>
              </a:rPr>
              <a:t>Reset Gate (r</a:t>
            </a:r>
            <a:r>
              <a:rPr lang="en-US" sz="650" b="1" baseline="-25000" dirty="0">
                <a:solidFill>
                  <a:srgbClr val="047857"/>
                </a:solidFill>
              </a:rPr>
              <a:t>t</a:t>
            </a:r>
            <a:r>
              <a:rPr lang="en-US" sz="850" b="1" dirty="0">
                <a:solidFill>
                  <a:srgbClr val="047857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σ(·) — 과거 정보를 얼마나 무시할지 결정</a:t>
            </a:r>
            <a:endParaRPr lang="en-US" sz="750" dirty="0"/>
          </a:p>
        </p:txBody>
      </p:sp>
      <p:sp>
        <p:nvSpPr>
          <p:cNvPr id="22" name="Update Gate Box"/>
          <p:cNvSpPr/>
          <p:nvPr/>
        </p:nvSpPr>
        <p:spPr>
          <a:xfrm>
            <a:off x="5926440" y="2508760"/>
            <a:ext cx="2686080" cy="6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7857"/>
                </a:solidFill>
              </a:rPr>
              <a:t>Update Gate (z</a:t>
            </a:r>
            <a:r>
              <a:rPr lang="en-US" sz="650" b="1" baseline="-25000" dirty="0">
                <a:solidFill>
                  <a:srgbClr val="047857"/>
                </a:solidFill>
              </a:rPr>
              <a:t>t</a:t>
            </a:r>
            <a:r>
              <a:rPr lang="en-US" sz="850" b="1" dirty="0">
                <a:solidFill>
                  <a:srgbClr val="047857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σ(·) — 과거 vs 신규 정보 반영 비율 조절</a:t>
            </a:r>
            <a:endParaRPr lang="en-US" sz="750" dirty="0"/>
          </a:p>
        </p:txBody>
      </p:sp>
      <p:sp>
        <p:nvSpPr>
          <p:cNvPr id="23" name="Candidate State Box"/>
          <p:cNvSpPr/>
          <p:nvPr/>
        </p:nvSpPr>
        <p:spPr>
          <a:xfrm>
            <a:off x="5926440" y="3278760"/>
            <a:ext cx="2686080" cy="5000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dash"/>
          </a:ln>
        </p:spPr>
        <p:txBody>
          <a:bodyPr wrap="square" lIns="91440" tIns="36576" rIns="91440" bIns="36576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47857"/>
                </a:solidFill>
              </a:rPr>
              <a:t>tanh(·) → 후보 상태 결합 → h</a:t>
            </a:r>
            <a:r>
              <a:rPr lang="en-US" sz="600" baseline="-25000" dirty="0">
                <a:solidFill>
                  <a:srgbClr val="047857"/>
                </a:solidFill>
              </a:rPr>
              <a:t>t</a:t>
            </a:r>
            <a:r>
              <a:rPr lang="en-US" sz="800" dirty="0">
                <a:solidFill>
                  <a:srgbClr val="047857"/>
                </a:solidFill>
              </a:rPr>
              <a:t> 갱신</a:t>
            </a:r>
            <a:endParaRPr lang="en-US" sz="800" dirty="0"/>
          </a:p>
        </p:txBody>
      </p:sp>
      <p:cxnSp>
        <p:nvCxnSpPr>
          <p:cNvPr id="24" name="GruArrow1"/>
          <p:cNvCxnSpPr/>
          <p:nvPr/>
        </p:nvCxnSpPr>
        <p:spPr>
          <a:xfrm>
            <a:off x="7259640" y="1568760"/>
            <a:ext cx="0" cy="200000"/>
          </a:xfrm>
          <a:prstGeom prst="straightConnector1">
            <a:avLst/>
          </a:prstGeom>
          <a:ln w="19050">
            <a:solidFill>
              <a:srgbClr val="94A3B8"/>
            </a:solidFill>
            <a:tailEnd type="triangle" w="med" len="med"/>
          </a:ln>
        </p:spPr>
      </p:cxnSp>
      <p:cxnSp>
        <p:nvCxnSpPr>
          <p:cNvPr id="25" name="GruArrow2"/>
          <p:cNvCxnSpPr/>
          <p:nvPr/>
        </p:nvCxnSpPr>
        <p:spPr>
          <a:xfrm>
            <a:off x="7259640" y="2388760"/>
            <a:ext cx="0" cy="120000"/>
          </a:xfrm>
          <a:prstGeom prst="straightConnector1">
            <a:avLst/>
          </a:prstGeom>
          <a:ln w="19050">
            <a:solidFill>
              <a:srgbClr val="94A3B8"/>
            </a:solidFill>
            <a:tailEnd type="triangle" w="med" len="med"/>
          </a:ln>
        </p:spPr>
      </p:cxnSp>
      <p:cxnSp>
        <p:nvCxnSpPr>
          <p:cNvPr id="26" name="GruArrow3"/>
          <p:cNvCxnSpPr/>
          <p:nvPr/>
        </p:nvCxnSpPr>
        <p:spPr>
          <a:xfrm>
            <a:off x="7259640" y="3128760"/>
            <a:ext cx="0" cy="150000"/>
          </a:xfrm>
          <a:prstGeom prst="straightConnector1">
            <a:avLst/>
          </a:prstGeom>
          <a:ln w="19050">
            <a:solidFill>
              <a:srgbClr val="94A3B8"/>
            </a:solidFill>
            <a:tailEnd type="triangl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본론 II · 모델 구조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Autoencoder 파이프라인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입력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(5 × 5)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5 Timestep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5 Feature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65960" y="16916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148840" y="109728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194560" y="114300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194560" y="1143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Encoder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LSTM/GRU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94560" y="1463040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hidden=16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1 Layer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0" y="16916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840480" y="109728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886200" y="114300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886200" y="1143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Latent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Vector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86200" y="1463040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16차원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맥락 표현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49240" y="16916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532120" y="109728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577840" y="114300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577840" y="1143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Decoder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LSTM/GRU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77840" y="1463040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hidden=16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복원 시도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40880" y="16916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223760" y="109728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269480" y="114300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269480" y="1143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출력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(5 × 5)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69480" y="1463040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재구성된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시퀀스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2468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40080" y="25877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이상 탐지 기준: MSE 복원 오차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290779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복원 오차 = mean( (입력 시퀀스 마지막 Timestep - 출력 시퀀스 마지막 Timestep)² )   →   오차 &gt; 임계값(thresh_val) 이면 이상(anomaly_critical = True)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61188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40080" y="37307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XGBoost 분류기 (지도학습)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041648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Autoencoder가 '이상 여부'를 비지도 탐지하면, XGBoost가 5개 피처로 위협 유형을 다중 분류. n_estimators=100, max_depth=5, learning_rate=0.1. 학습:검증 = 80:20 비율, Stratified Split 적용.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본론 II · 알고리즘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분류기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개요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1828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eXtreme Gradient Boosting. 약한 결정 트리(Decision Tree)를 순차적으로 앙상블하여 오차를 줄여가는 Boosting 방식. Chen &amp; Guestrin (2016) 제안.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606040" y="1188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특징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06040" y="1508760"/>
            <a:ext cx="1828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• 2차 테일러 전개 목적함수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• L1/L2 정규화 내장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• 결측값 자동 처리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• 병렬 트리 학습 지원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• Feature Importance 제공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72000" y="1188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본 시스템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설정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0" y="1508760"/>
            <a:ext cx="1828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n_estimators: 100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max_depth: 5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learning_rate: 0.1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eval_metric: logloss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n_jobs: -1 (전코어)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37960" y="1188720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537960" y="1188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대체 모델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(미설치 시)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537960" y="1508760"/>
            <a:ext cx="1828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RandomForest 자동 대체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n_estimators=100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max_depth=8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동일 인터페이스 유지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본론 II · 알고리즘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임계값 · RobustScaler · Log 변환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97480" cy="37490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170432"/>
            <a:ext cx="2514600" cy="256032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Z-score 기반 임계값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490472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정규분포 가정 하에 오염 비율(rho)을 설정.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rho = 2 × (1 − CDF(Z))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예: Z=3.2 → rho≈0.14%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임계값 = 복원 오차 상위 (100 × rho) 백분위수.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사용자가 슬라이더로 Z=2.0~6.0 실시간 조정.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높을수록 엄격 탐지, 낮을수록 민감 탐지.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97480" cy="37490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383280" y="1170432"/>
            <a:ext cx="2514600" cy="256032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383280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RobustScaler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29000" y="1490472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이상치(Outlier)에 강한 정규화.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X_scaled = (X − Median) / IQR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• Mean/Std 기반 StandardScaler는 공격 트래픽 이상치에 의해 왜곡됨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• RobustScaler는 중앙값·사분위 범위 사용으로 이상치 영향 최소화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• 네트워크 트래픽처럼 분포가 Skewed된 데이터에 적합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97480" cy="37490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217920" y="1170432"/>
            <a:ext cx="251460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217920" y="1170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Log1p 변환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63640" y="1490472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피처값을 log(1+x) 변환 후 스케일링.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• Flow Packets/s 등 극단적 Skewed 분포를 완화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• 0값 처리: log(1+0) = 0 이므로 안전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• RobustScaler와 조합하여 두 단계 전처리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• 변환 순서: Raw → log1p → RobustScaler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본론 II · 성능 지표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평가 지표 체계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280160" cy="2286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Accuracy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920240" y="11704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정확도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4173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F46E5"/>
                </a:solidFill>
              </a:rPr>
              <a:t>(TP+TN) / 전체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920240" y="16276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전체 중 올바르게 분류한 비율. 클래스 불균형 시 신뢰 낮음.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2084832"/>
            <a:ext cx="1280160" cy="2286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20848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Precision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920240" y="206654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정밀도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23134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</a:rPr>
              <a:t>TP / (TP+FP)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920240" y="252374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위협으로 예측한 것 중 실제 위협 비율. 과탐(FP) 최소화 지표.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889504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48640" y="2980944"/>
            <a:ext cx="1280160" cy="2286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298094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Recall (TPR)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920240" y="296265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재현율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20240" y="320954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TP / (TP+FN)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20240" y="341985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실제 위협 중 탐지한 비율. 미탐(FN) 최소화 지표. 보안에서 최중요.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3785616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48640" y="3877056"/>
            <a:ext cx="1280160" cy="2286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48640" y="38770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F1-Score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920240" y="38587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F1 점수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20240" y="41056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</a:rPr>
              <a:t>2 × P×R / (P+R)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20240" y="4315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Precision과 Recall의 조화평균. 불균형 데이터에서 Accuracy보다 신뢰.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754880" y="1188720"/>
            <a:ext cx="1280160" cy="2286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754880" y="11887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AUC-ROC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26480" y="11704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ROC 곡선 넓이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26480" y="14173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∫ROC curve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26480" y="16276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이진 분류 전반적 판별력. 1.0이 이상적, 0.5는 랜덤 수준.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63440" y="1993392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754880" y="2084832"/>
            <a:ext cx="1280160" cy="228600"/>
          </a:xfrm>
          <a:prstGeom prst="roundRect">
            <a:avLst>
              <a:gd name="adj" fmla="val 16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754880" y="20848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PR-AUC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26480" y="206654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PR 곡선 넓이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26480" y="23134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5CF6"/>
                </a:solidFill>
              </a:rPr>
              <a:t>∫PR curve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26480" y="252374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불균형 데이터에서 AUC-ROC보다 신뢰도 높음. 위협 탐지 핵심 지표.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63440" y="2889504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4754880" y="2980944"/>
            <a:ext cx="1280160" cy="228600"/>
          </a:xfrm>
          <a:prstGeom prst="roundRect">
            <a:avLst>
              <a:gd name="adj" fmla="val 16000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754880" y="298094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MSE Loss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126480" y="296265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복원 오차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26480" y="320954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C4899"/>
                </a:solidFill>
              </a:rPr>
              <a:t>mean((x−x̂)²)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26480" y="341985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Autoencoder 학습 손실. 낮을수록 정상 패턴 학습 우수.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본론 II · 성능 결과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성능 검증 결과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81095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Loss KDE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60" y="1051560"/>
            <a:ext cx="6971479" cy="1628070"/>
          </a:xfrm>
          <a:prstGeom prst="rect">
            <a:avLst/>
          </a:prstGeom>
        </p:spPr>
      </p:pic>
      <p:sp>
        <p:nvSpPr>
          <p:cNvPr id="7" name="Shape 5"/>
          <p:cNvSpPr/>
          <p:nvPr/>
        </p:nvSpPr>
        <p:spPr>
          <a:xfrm>
            <a:off x="457200" y="2908230"/>
            <a:ext cx="8229600" cy="181095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Confusion Matrix 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246" y="2999670"/>
            <a:ext cx="7163508" cy="16280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본론 II · 성능 결과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이진 분류 및 다중 클래스 성능 상세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023360" cy="375906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ROC PR Curve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31920"/>
            <a:ext cx="3840480" cy="1826938"/>
          </a:xfrm>
          <a:prstGeom prst="rect">
            <a:avLst/>
          </a:prstGeom>
        </p:spPr>
      </p:pic>
      <p:sp>
        <p:nvSpPr>
          <p:cNvPr id="9" name="Text Caption 1"/>
          <p:cNvSpPr/>
          <p:nvPr/>
        </p:nvSpPr>
        <p:spPr>
          <a:xfrm>
            <a:off x="548640" y="10972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ROC &amp; PR Curve (이진 위협 탐지)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023360" cy="375906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Classification Report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052101"/>
            <a:ext cx="3840480" cy="1986577"/>
          </a:xfrm>
          <a:prstGeom prst="rect">
            <a:avLst/>
          </a:prstGeom>
        </p:spPr>
      </p:pic>
      <p:sp>
        <p:nvSpPr>
          <p:cNvPr id="10" name="Text Caption 2"/>
          <p:cNvSpPr/>
          <p:nvPr/>
        </p:nvSpPr>
        <p:spPr>
          <a:xfrm>
            <a:off x="4754880" y="10972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클래스별 Precision · Recall · F1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본론 II · 시스템 UI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관제 대시보드 화면 구성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</a:rPr>
              <a:t>KPI 메트릭: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74017" y="4389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감시 패킷 총량·위협 탐지 건수·보안 무결성·임계 Z-score 실시간 표시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</a:rPr>
              <a:t>스마트 방화벽: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74017" y="4709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AI 차단 정책 배포 버튼 → 이상 탐지 포트 ACL 자동 격리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3440" y="4389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</a:rPr>
              <a:t>위협 분포 차트: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62058" y="43891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Plotly 파이차트·막대차트로 위협 유형별 현황 시각화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</a:rPr>
              <a:t>위협 영향 카드: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62058" y="47091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제조 현장·항공 관제 파급 영향 및 권고 조치 표시</a:t>
            </a:r>
            <a:endParaRPr lang="en-US" sz="9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A581CFB-F6E1-99A5-86AC-198B66E4E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838" y="1149447"/>
            <a:ext cx="5916323" cy="30046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 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3C5FD"/>
                </a:solidFill>
              </a:rPr>
              <a:t>연구 성과 종합 정리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18488"/>
            <a:ext cx="228600" cy="2286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05840" y="15819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딥러닝 기반 이상 탐지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8745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</a:rPr>
              <a:t>LSTM/GRU Recurrent Autoencoder로 5 Timestep 시계열 컨텍스트를 보존하며 비지도 이상 탐지 구현. 단순 통계 기반 대비 시간적 의존성 포착 가능.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228600" cy="2286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238658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다중 위협 분류 파이프라인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6791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</a:rPr>
              <a:t>XGBoost로 Brute </a:t>
            </a:r>
            <a:r>
              <a:rPr lang="en-US" sz="950" dirty="0" err="1">
                <a:solidFill>
                  <a:srgbClr val="93C5FD"/>
                </a:solidFill>
              </a:rPr>
              <a:t>Force·DDoS·DoS·Web</a:t>
            </a:r>
            <a:r>
              <a:rPr lang="en-US" sz="950" dirty="0">
                <a:solidFill>
                  <a:srgbClr val="93C5FD"/>
                </a:solidFill>
              </a:rPr>
              <a:t> Attack 4종</a:t>
            </a:r>
            <a:r>
              <a:rPr lang="ko-KR" altLang="en-US" sz="950" dirty="0">
                <a:solidFill>
                  <a:srgbClr val="93C5FD"/>
                </a:solidFill>
              </a:rPr>
              <a:t>과 미분류</a:t>
            </a:r>
            <a:r>
              <a:rPr lang="en-US" altLang="ko-KR" sz="950" dirty="0">
                <a:solidFill>
                  <a:srgbClr val="93C5FD"/>
                </a:solidFill>
              </a:rPr>
              <a:t>(Other)</a:t>
            </a:r>
            <a:r>
              <a:rPr lang="en-US" sz="950" dirty="0">
                <a:solidFill>
                  <a:srgbClr val="93C5FD"/>
                </a:solidFill>
              </a:rPr>
              <a:t> </a:t>
            </a:r>
            <a:r>
              <a:rPr lang="en-US" sz="950" dirty="0" err="1">
                <a:solidFill>
                  <a:srgbClr val="93C5FD"/>
                </a:solidFill>
              </a:rPr>
              <a:t>위협을</a:t>
            </a:r>
            <a:r>
              <a:rPr lang="en-US" sz="950" dirty="0">
                <a:solidFill>
                  <a:srgbClr val="93C5FD"/>
                </a:solidFill>
              </a:rPr>
              <a:t> 자동 분류하고 산업 현장별 영향 분석 및 권고 조치 제시.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3227832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319125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실용적 관제 UI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48386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</a:rPr>
              <a:t>Streamlit 기반 실시간 대시보드로 Z-score 슬라이더·스마트 방화벽 ACL 자동 배포·KPI 모니터링을 단일 인터페이스에서 운영.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4032504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" y="39959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정량적 성능 검증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428853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</a:rPr>
              <a:t>AUC-ROC·PR-AUC·F1·혼동 행렬 등 학술 표준 지표로 20% Hold-out 기준 모델 성능을 투명하게 제시.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 b="1" dirty="0">
                <a:solidFill>
                  <a:srgbClr val="FFFFFF"/>
                </a:solidFill>
              </a:rPr>
              <a:t>결론 </a:t>
            </a:r>
            <a:r>
              <a:rPr lang="en-US" sz="850" b="1" dirty="0">
                <a:solidFill>
                  <a:srgbClr val="FFFFFF"/>
                </a:solidFill>
              </a:rPr>
              <a:t>· 한계점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학술적 한계점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22960" y="11704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단일 공개 데이터셋 의존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CIC-IDS 2018 한 종류만 사용. 다양한 네트워크 환경(병원, 금융, 공항)을 반영하지 못해 일반화 성능(Generalization) 검증 불가. 제3자 데이터셋 교차 검증(Cross-Dataset Evaluation) 필요.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754880" y="1188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0" y="11704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파일당 20,000건 샘플링 제한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00600" y="1481328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원본 데이터 수십만 건을 20,000건으로 잘라 사용. 클래스 불균형이 원본 비율 그대로 반영되지 않을 수 있으며, 희귀 공격 유형(Botnet 등)의 탐지 성능이 과대 또는 과소 평가될 위험.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24688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4688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22960" y="24505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피처 선택의 근거 부재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2761488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5개 피처는 칼럼 이름 패턴 매칭으로 선정. 정보 이론적 Feature Selection(Mutual Information, Lasso 등) 없이 직관적으로 선택하여 최적 피처 집합임을 보장할 수 없음.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377440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754880" y="24688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54880" y="24688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029200" y="24505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Autoencoder 학습 에포크 부족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2761488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10 Epoch만 학습. Adam 옵티마이저·배치 256 설정 하에서도 충분한 수렴 보장이 어려움. 조기 종료(Early Stopping) 기준 부재로 과소학습(Underfitting) 가능성 존재.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48640" y="37490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4864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22960" y="37307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정규분포 가정의 부적절성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4041648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Z-score 임계값은 복원 오차가 정규분포를 따른다고 암묵적으로 가정. 실제 MSE 오차 분포는 Heavy-tail을 보이며, KDE 결과에서도 확인됨. 통계적 타당성 논거 보완 필요.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657600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754880" y="37490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75488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029200" y="37307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하이퍼파라미터 튜닝 미실시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4041648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LSTM/GRU hidden=16, seq_len=5, XGBoost n_estimators=100 모두 경험치 고정값. Grid Search·Bayesian Optimization 등 체계적 탐색 없이 설정된 임의 값.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 b="1" dirty="0">
                <a:solidFill>
                  <a:srgbClr val="FFFFFF"/>
                </a:solidFill>
              </a:rPr>
              <a:t>결론</a:t>
            </a:r>
            <a:r>
              <a:rPr lang="en-US" sz="850" b="1" dirty="0">
                <a:solidFill>
                  <a:srgbClr val="FFFFFF"/>
                </a:solidFill>
              </a:rPr>
              <a:t> · 한계점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 현장 적용 관점 한계점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FF7F7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22960" y="11704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실시간 처리 지연 (Latency)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PyTorch CPU 추론 기반으로 대용량 패킷을 실시간 처리하기에 지연이 발생. 산업 제어망(PLC 제어 주기 &lt; 100ms)에 적용 시 처리 속도 미충족 가능. FPGA/Edge AI 가속 미검토.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FF7F7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754880" y="1188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0" y="11704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OT 프로토콜 미지원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00600" y="1481328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Modbus, DNP3, EtherNet/IP 등 산업 특화 프로토콜 트래픽이 데이터셋에 없음. 일반 IT 네트워크 피처(Flow IAT, Packet Length)가 OT 환경에서 동일 의미를 갖는다고 보장할 수 없음.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FF7F7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24688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4688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22960" y="24505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Google Colab 의존 아키텍처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2761488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Google Drive 마운트·Colab 런타임 필수 구조. 산업 현장의 폐쇄망(Air-gap) 환경에서 구동 불가. 온프레미스 배포 및 엣지 서버 지원 구조로의 전환 필요.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377440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FF7F7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754880" y="24688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54880" y="24688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029200" y="24505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이상 포트 탐지는 가능하나 실제 차단 배포는 미구현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2761488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모델·대시보드는 위협 발생 포트를 식별하고 ACL 차단 정책을 화면상에서 제안하는 수준까지만 구현. 실제 네트워크 장비(방화벽/스위치)에 정책을 전송해 포트를 차단·배포하는 연동 로직은 미구현 상태이며, 버튼은 시연용 UI 동작에 한정됨.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FF7F7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48640" y="37490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4864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22960" y="37307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드리프트(Drift) 대응 미비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4041648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모델이 한 번 학습되면 재학습 없이 고정 사용. 네트워크 트래픽 패턴은 시간이 지남에 따라 변화(Concept Drift)하며, 임계값 자동 재조정·증분 학습 메커니즘이 없음.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657600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FF7F7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754880" y="37490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75488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029200" y="37307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보안 감사 추적 미흡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4041648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탐지 이벤트 로그·차단 이력이 세션 내 메모리에만 유지. 재시작 시 소멸. 산업 보안 규정(IEC 62443, NERC CIP)은 감사 추적(Audit Trail) 영속 저장을 요구함.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결론 · 추후 연구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추후 연구 방향 (1/2)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14400" y="1161288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OT 프로토콜 특화 피처 엔지니어링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48132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Modbus, DNP3, EtherNet/IP 패킷 구조에서 OT 전용 피처 추출. 레지스터 주소 접근 빈도, Function Code 분포 등을 추가하여 IT/OT 융합 탐지 모델로 확장.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48640" y="2121408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1214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14400" y="2093976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Transformer 기반 이상 탐지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414016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Self-Attention 메커니즘으로 LSTM/GRU 대비 장거리 의존성을 더 효율적으로 포착. Anomaly Transformer(2022) 아키텍처를 ICS 트래픽에 적용·비교 연구.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962656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3054096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30540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14400" y="302666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연합 학습 (Federated Learning)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여러 공장·공항 현장의 민감 트래픽 데이터를 중앙 서버로 수집하지 않고 분산 학습. 데이터 프라이버시 보호와 다양한 환경 적응을 동시에 달성.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895344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3986784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8640" y="39867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14400" y="395935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온프레미스 Edge 배포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427939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NVIDIA Jetson 또는 산업용 IPC에 ONNX 변환 모델을 배포. Google Colab 의존성 제거 후 폐쇄망 Air-gap 환경에서 실시간 추론 속도(Latency) 벤치마크.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결론 · 추후 연구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추후 연구 방향 (2/2)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14400" y="1161288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Concept Drift 적응형 재학습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48132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네트워크 트래픽 패턴 변화를 실시간 감지하고 증분 학습(Incremental Learning) 또는 정기적 자동 재학습 파이프라인을 구축. ADWIN·PHT 등 드리프트 감지 알고리즘 통합.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48640" y="2121408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1214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14400" y="2093976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Human-in-the-Loop 검토 체계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414016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AI가 탐지한 이상 이벤트를 보안 분석가가 승인 후 ACL 배포하는 SOAR 연동 워크플로. 오탐 피드백 루프로 모델 지속 개선 및 산업 보안 규정(IEC 62443) 준수.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962656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3054096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30540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14400" y="302666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다중 데이터셋 교차 검증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CIC-IDS 2018 외 UNSW-NB15, KDD Cup 99, SCADA-specific 데이터셋으로 일반화 성능 측정. 도메인 적응(Domain Adaptation) 기법 적용으로 실제 현장 전이 성능 향상.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895344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3986784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8640" y="39867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8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14400" y="395935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설명 가능 AI (XAI) 통합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427939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SHAP(SHapley Additive exPlanations)으로 XGBoost 분류 근거를 시각화. 보안 분석가가 '왜 이 트래픽이 DDoS로 분류되었는가'를 이해하여 신뢰성 있는 의사결정 지원.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6459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3C5FD"/>
                </a:solidFill>
              </a:rPr>
              <a:t>AIS 산업 인프라 위협 탐지 시스템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3017520"/>
            <a:ext cx="3657600" cy="0"/>
          </a:xfrm>
          <a:prstGeom prst="line">
            <a:avLst/>
          </a:prstGeom>
          <a:noFill/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2761</Words>
  <Application>Microsoft Office PowerPoint</Application>
  <PresentationFormat>화면 슬라이드 쇼(16:9)</PresentationFormat>
  <Paragraphs>404</Paragraphs>
  <Slides>24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 산업 인프라 위협 탐지 시스템</dc:title>
  <dc:subject>PptxGenJS Presentation</dc:subject>
  <dc:creator>PptxGenJS</dc:creator>
  <cp:lastModifiedBy>정민균</cp:lastModifiedBy>
  <cp:revision>8</cp:revision>
  <dcterms:created xsi:type="dcterms:W3CDTF">2026-06-16T03:19:03Z</dcterms:created>
  <dcterms:modified xsi:type="dcterms:W3CDTF">2026-06-18T10:00:18Z</dcterms:modified>
</cp:coreProperties>
</file>